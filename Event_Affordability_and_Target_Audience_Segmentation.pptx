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33D8C-F8DE-8916-DA11-5E1B14EE7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639333-6399-879A-3091-2782B8F64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D2B1B-A64D-57D3-174E-C61CE5960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385BD-AA5D-4ECA-3AC6-5ACE67991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A2BFB-FA10-E1EA-895C-A8155E3E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903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9DC1-DE0A-075C-270E-08727A905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DAA60-6F25-5D4D-A4BE-5563CD8E8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947B1-36AB-66A2-F06C-7751A736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761C5-4E4C-4496-461C-03D9F561F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0739B-AB27-1EFB-BCB6-23E54466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911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82BD7-8D42-3DE5-9B1F-BB7C1D3FD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8FB89-8BB0-55D5-5CC7-D67E1EEF9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EFB09-862C-6641-680F-68EAB98DC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44E88-F660-2A05-E075-90261715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722F0-DE6E-E3A9-6CFB-F06F0AF3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378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AD9B7-9E0F-A8E8-8EF3-3ABCE00A6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FF31D-EC8A-1F39-5A11-FA5A9055A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57D48-4AF4-A186-EE32-369F31C1D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8A0FA-DCC3-39EA-2BDD-9FD1AA060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D74D8-0A73-12AC-49A4-AC7D4C4A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E4FB3-F15A-4184-5B47-FEB2562F4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598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6976-BB19-E327-6168-32BA83AC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566A5-4705-EEF9-43F6-87C6D962C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6553F-6556-6EA1-482B-8E70F0A8A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9ED093-EB66-7A96-C400-79486549E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0D3B4E-A3D4-0AE7-7163-19A2907F84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3657B6-66BD-F4AD-FCEC-174118026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74312F-1FE9-C9A8-1BAC-4DA75C0C0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C70C44-A65D-F592-D921-F57C8D619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4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8FD3-3B8F-991A-56E2-F01D2CE8D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CEEF3-BC8B-6A33-325A-A63C80442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9FF9B-E3A4-5950-7FBA-8516CC4C3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800E7-DD73-3899-FBD5-6369AC456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32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BBE4DF-8007-C14C-51F4-18B9126ED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A2FF02-9EA2-998A-F470-73788B110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050E8-176A-19EF-99AE-9F91E349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034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1518C-619C-C48C-B592-D5CB86159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B69DD-C3A1-330F-E2E3-58625A814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FD0F0-06F5-3452-02C2-E91158E13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6B7A5-40D3-DCFF-CA1A-AF68D9CF1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12D55-27FC-8286-E672-58B3E09C1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7B347C-3476-4293-2D4D-53A18B8C0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890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EC201-8717-0C85-AC35-A6862E234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853A6C-0B25-129F-4920-23A2B58AD0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532DF-FAD1-1BDB-5667-5ED407AC2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D91B2-80D1-BF3C-DCDD-75C7D35D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9ED8B-B742-F972-D8D3-11E973BA8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69697-92E7-F522-FBE2-5B4FDF7C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945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FC96F-CBC7-E203-88DA-1B4F7A2F8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B5EDE2-E3C8-D937-BC3C-3249A0C63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71A78-8225-DBDF-02B8-25C0A312F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B7A26-A8A2-737F-9996-1084B91B6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52D8B-754B-4E6C-672B-B8E232AAC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482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7D6B5C-24E6-88AA-1A6B-CFDD0219B0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E85C2-A6F8-474C-0DE8-1551E6999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2E124-10E2-298C-F40B-FC80EDF6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6B036-D52F-78DE-DE8D-073E24975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450B3-DB43-A82E-437F-D47757FFA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52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3984D0-52BF-110E-C21A-75D365472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5F53B-6A24-9B51-59BF-CD85D18FB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2A57D-811A-CC9C-6673-9EEE1D514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D3FB4-6CF0-498C-8510-A58DB60631A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48436-376D-4BB8-6481-91E81D41B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D2524-E165-9531-2A7C-73ADCA9CD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94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5BB582-B64C-A3F3-327B-3BA5D11AC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76" t="17949" r="6409" b="6347"/>
          <a:stretch>
            <a:fillRect/>
          </a:stretch>
        </p:blipFill>
        <p:spPr>
          <a:xfrm>
            <a:off x="2369199" y="2541516"/>
            <a:ext cx="8501964" cy="4071026"/>
          </a:xfrm>
          <a:prstGeom prst="rect">
            <a:avLst/>
          </a:prstGeom>
        </p:spPr>
      </p:pic>
      <p:pic>
        <p:nvPicPr>
          <p:cNvPr id="2053" name="Picture 1">
            <a:extLst>
              <a:ext uri="{FF2B5EF4-FFF2-40B4-BE49-F238E27FC236}">
                <a16:creationId xmlns:a16="http://schemas.microsoft.com/office/drawing/2014/main" id="{7204C633-176F-3C67-8826-CADF36961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848" y="100202"/>
            <a:ext cx="2227448" cy="172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951AD46E-5688-F95D-8E97-395D2E7C8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153" y="514139"/>
            <a:ext cx="7027693" cy="1031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WEBPOISE INTERNSHIP PROJECT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7672AE38-34DB-7BC8-9815-523EA90DA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695" y="960868"/>
            <a:ext cx="2141548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REPORT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1E616FC6-14FE-2FDC-BD3D-3C1DC7901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994" y="1821535"/>
            <a:ext cx="969637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Title 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Event Affordability and Target Audience Segmentation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545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D2038C-5556-DF47-7EAC-A2821C166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058" y="879218"/>
            <a:ext cx="6275504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 &amp; 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B9702E-B977-A0FA-DC2A-E79FAD5B054F}"/>
              </a:ext>
            </a:extLst>
          </p:cNvPr>
          <p:cNvSpPr txBox="1"/>
          <p:nvPr/>
        </p:nvSpPr>
        <p:spPr>
          <a:xfrm>
            <a:off x="3343057" y="1648615"/>
            <a:ext cx="765289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primary recommendation is to adopt segment-specific pricing and marketing strategies. The goal is to enhance targeting, optimize pricing, and improve attendance.</a:t>
            </a: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Finding: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Affordability Index ($\frac{\text{Income}}{\text{Ticket Price}}$) is the Most Important Factor in predicting attendance.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BA282B24-8CDD-D9B1-11EE-7EE1A1FB2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2" y="169650"/>
            <a:ext cx="2266805" cy="175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723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B18B2-D30E-304F-06FC-8054B8191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60F6D0-BB35-05F9-7177-757AEA996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058" y="879218"/>
            <a:ext cx="7830950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From Data to Segments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021F5A-6329-E6B2-B148-4BAE7B9ADBA0}"/>
              </a:ext>
            </a:extLst>
          </p:cNvPr>
          <p:cNvSpPr txBox="1"/>
          <p:nvPr/>
        </p:nvSpPr>
        <p:spPr>
          <a:xfrm>
            <a:off x="3343057" y="1648615"/>
            <a:ext cx="765289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Creation of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Affordability Index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(Unsupervised Learning):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K-Means Clustering identified 4 clusters.</a:t>
            </a:r>
          </a:p>
          <a:p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(Supervised Learning):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Logistic Regression and Decision Tree to forecast attendance</a:t>
            </a:r>
            <a:r>
              <a:rPr lang="en-US" sz="2800" dirty="0"/>
              <a:t>.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25E22FA6-BF9F-758D-7DD8-C4C5DFEBF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2" y="169650"/>
            <a:ext cx="2356673" cy="1821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4107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C5E87-901B-B37B-C5DC-95F8C7893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26F77C-815B-1E2D-5AE3-8CDE6B8AA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058" y="879218"/>
            <a:ext cx="7830950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Core Driver: Affordability Index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7EAB5E-5324-171C-8D2C-AD8AA76B8553}"/>
              </a:ext>
            </a:extLst>
          </p:cNvPr>
          <p:cNvSpPr txBox="1"/>
          <p:nvPr/>
        </p:nvSpPr>
        <p:spPr>
          <a:xfrm>
            <a:off x="1004970" y="2188950"/>
            <a:ext cx="566204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the central role of the Affordability Index. Explain the correlation observed in the data: Attendance is correlated with income level relative to ticket price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Feature Importance: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Affordability_Index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57%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Importance.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895FD251-9BE3-2192-B733-8B2E32953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2" y="169650"/>
            <a:ext cx="2110205" cy="163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586D1B1-B677-49AB-AF0A-6CDD07EBB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30794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4097" name="Picture 9">
            <a:extLst>
              <a:ext uri="{FF2B5EF4-FFF2-40B4-BE49-F238E27FC236}">
                <a16:creationId xmlns:a16="http://schemas.microsoft.com/office/drawing/2014/main" id="{2CA26E06-2C7B-0CCB-6CD8-494A06F6A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4" t="22363" r="50085" b="18182"/>
          <a:stretch>
            <a:fillRect/>
          </a:stretch>
        </p:blipFill>
        <p:spPr bwMode="auto">
          <a:xfrm>
            <a:off x="6934822" y="2314937"/>
            <a:ext cx="4379954" cy="3235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533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7585C-1B56-8731-EF3E-DC3ADB4E8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405BFD-C31C-AC47-9076-946B3CCE6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058" y="602219"/>
            <a:ext cx="7830950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 Segmentation (The 4 Clusters)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B639DB-C5F8-22BF-BE1F-1CD27A34E4A6}"/>
              </a:ext>
            </a:extLst>
          </p:cNvPr>
          <p:cNvSpPr txBox="1"/>
          <p:nvPr/>
        </p:nvSpPr>
        <p:spPr>
          <a:xfrm>
            <a:off x="902825" y="1948616"/>
            <a:ext cx="585679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the key characteristics of the four identified customer segments:</a:t>
            </a:r>
          </a:p>
          <a:p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2 (Affluent/Price-Insensitive):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Highest Avg. Income ($94.9K),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Attendance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3 (Budget-Stressed):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Lowest Affordability Index (212.1),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Attendance (77.4%)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9149AD05-EFEE-4827-652D-A69A015C1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25" y="169650"/>
            <a:ext cx="2262172" cy="1748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5A868E9-D614-286F-F81E-93BB935A7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30794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521542E-1788-DDBB-DF62-AC1B4A3918FA}"/>
              </a:ext>
            </a:extLst>
          </p:cNvPr>
          <p:cNvGraphicFramePr>
            <a:graphicFrameLocks noGrp="1"/>
          </p:cNvGraphicFramePr>
          <p:nvPr/>
        </p:nvGraphicFramePr>
        <p:xfrm>
          <a:off x="7006782" y="2050898"/>
          <a:ext cx="4359557" cy="38860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5893">
                  <a:extLst>
                    <a:ext uri="{9D8B030D-6E8A-4147-A177-3AD203B41FA5}">
                      <a16:colId xmlns:a16="http://schemas.microsoft.com/office/drawing/2014/main" val="3599387973"/>
                    </a:ext>
                  </a:extLst>
                </a:gridCol>
                <a:gridCol w="1192193">
                  <a:extLst>
                    <a:ext uri="{9D8B030D-6E8A-4147-A177-3AD203B41FA5}">
                      <a16:colId xmlns:a16="http://schemas.microsoft.com/office/drawing/2014/main" val="942223379"/>
                    </a:ext>
                  </a:extLst>
                </a:gridCol>
                <a:gridCol w="2021471">
                  <a:extLst>
                    <a:ext uri="{9D8B030D-6E8A-4147-A177-3AD203B41FA5}">
                      <a16:colId xmlns:a16="http://schemas.microsoft.com/office/drawing/2014/main" val="2830825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Variable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Data Type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Description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97191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Age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Integer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Customer age (18 to 65 years)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67192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Gender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Categorical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Male, Female, Other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121174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Income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Integer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Annual income ($20,000 to $200,000)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19883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Event_Type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Categorical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Concert, Sports, Festival, Seminar, Exhibition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05814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Ticket_Price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Float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Price of the event ticket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874464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Attendance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Binary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Target Variable (0=Did Not Attend, 1=Attended)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330853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7034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ED84F-35F9-2623-C82D-14316325A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57426D-DA09-9F53-E7E8-C0CB40EA7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058" y="879218"/>
            <a:ext cx="7830950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Segment Preferences &amp; Risk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CA8BB5-2FB3-789D-E3AB-99F15EF2B15F}"/>
              </a:ext>
            </a:extLst>
          </p:cNvPr>
          <p:cNvSpPr txBox="1"/>
          <p:nvPr/>
        </p:nvSpPr>
        <p:spPr>
          <a:xfrm>
            <a:off x="1120717" y="2188950"/>
            <a:ext cx="519905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3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(Budget-Stressed) highly favors Seminars (62.6%).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High-priced Seminars purchased by low-ratio customers lead to financial strain and high non-attendance risk.</a:t>
            </a:r>
            <a:endParaRPr lang="en-US" sz="2800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1E23B2A8-C83A-6C51-EF84-78CDEDAB8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2" y="169650"/>
            <a:ext cx="2613025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740DC3-E697-304A-2463-D7C2EFC80A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5" t="25699" r="50110" b="29043"/>
          <a:stretch>
            <a:fillRect/>
          </a:stretch>
        </p:blipFill>
        <p:spPr bwMode="auto">
          <a:xfrm>
            <a:off x="6470263" y="2396521"/>
            <a:ext cx="5199059" cy="290640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35947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B328A-25F1-95C3-E198-9C176FA9B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E80C1A-A64D-BD4B-F0AA-B15C3C955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058" y="879218"/>
            <a:ext cx="7830950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 &amp; Event Type Preferences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DDF44-4997-9F04-5C52-73FEBC923D71}"/>
              </a:ext>
            </a:extLst>
          </p:cNvPr>
          <p:cNvSpPr txBox="1"/>
          <p:nvPr/>
        </p:nvSpPr>
        <p:spPr>
          <a:xfrm>
            <a:off x="575219" y="2305615"/>
            <a:ext cx="519905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Younger (18-30):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 Concerts and Festivals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Older (46-65):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 Seminars and Exhibitions.</a:t>
            </a:r>
            <a:endParaRPr lang="en-US" sz="2800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D3EBFF03-4275-A7E8-CCD0-2206491DF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2" y="169650"/>
            <a:ext cx="2613025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AC718A-4379-FE9D-273E-39478F89FF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0" t="26073" r="50207" b="28438"/>
          <a:stretch>
            <a:fillRect/>
          </a:stretch>
        </p:blipFill>
        <p:spPr bwMode="auto">
          <a:xfrm>
            <a:off x="5896863" y="2188950"/>
            <a:ext cx="5515635" cy="312209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75645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724E2-7E67-862F-EC8D-17A87CAA8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532AF4-F85C-FFD2-0613-CD8136E16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058" y="602219"/>
            <a:ext cx="7830950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Strategic Pricing &amp; Attendance Threshold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2E2A24-8D5A-57E5-13D9-E483CA397354}"/>
              </a:ext>
            </a:extLst>
          </p:cNvPr>
          <p:cNvSpPr txBox="1"/>
          <p:nvPr/>
        </p:nvSpPr>
        <p:spPr>
          <a:xfrm>
            <a:off x="575219" y="2305615"/>
            <a:ext cx="1113836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2800" dirty="0"/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Affordability Index: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and 500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maximizing attendance.</a:t>
            </a:r>
          </a:p>
          <a:p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Avoid prices that result in a ratio below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high non-attendance risk.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52283D49-897F-3995-873A-1B8BA0B2E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2" y="169650"/>
            <a:ext cx="2613025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4510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ACCDA-CEE8-58AA-EB07-03FA46F7C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3D6AE8-722F-27BD-44AE-A868B6045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8947" y="786921"/>
            <a:ext cx="9236598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 (Segment-Specific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29E08F6A-157F-9FAA-345B-36338DDB2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2" y="169650"/>
            <a:ext cx="2613025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7BD3C1-5F1A-92D4-26F2-B9C422F748BB}"/>
              </a:ext>
            </a:extLst>
          </p:cNvPr>
          <p:cNvSpPr txBox="1"/>
          <p:nvPr/>
        </p:nvSpPr>
        <p:spPr>
          <a:xfrm>
            <a:off x="894145" y="2551837"/>
            <a:ext cx="29370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Low Budget ($20-$60):</a:t>
            </a:r>
            <a:r>
              <a:rPr lang="en-US" dirty="0"/>
              <a:t> Volume Focus (Festivals).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High Budget ($100-$300+): </a:t>
            </a:r>
            <a:r>
              <a:rPr lang="en-US" dirty="0"/>
              <a:t>Premium Focus (VIP Packages, Seminars).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3AA3BD-48EB-09AD-367E-27610F9AB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540758"/>
              </p:ext>
            </p:extLst>
          </p:nvPr>
        </p:nvGraphicFramePr>
        <p:xfrm>
          <a:off x="3685570" y="1669379"/>
          <a:ext cx="6858965" cy="35192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76096">
                  <a:extLst>
                    <a:ext uri="{9D8B030D-6E8A-4147-A177-3AD203B41FA5}">
                      <a16:colId xmlns:a16="http://schemas.microsoft.com/office/drawing/2014/main" val="391902227"/>
                    </a:ext>
                  </a:extLst>
                </a:gridCol>
                <a:gridCol w="3635385">
                  <a:extLst>
                    <a:ext uri="{9D8B030D-6E8A-4147-A177-3AD203B41FA5}">
                      <a16:colId xmlns:a16="http://schemas.microsoft.com/office/drawing/2014/main" val="2646015740"/>
                    </a:ext>
                  </a:extLst>
                </a:gridCol>
                <a:gridCol w="1047484">
                  <a:extLst>
                    <a:ext uri="{9D8B030D-6E8A-4147-A177-3AD203B41FA5}">
                      <a16:colId xmlns:a16="http://schemas.microsoft.com/office/drawing/2014/main" val="1911030729"/>
                    </a:ext>
                  </a:extLst>
                </a:gridCol>
              </a:tblGrid>
              <a:tr h="67375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Segment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Strategy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Pricing Range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517751791"/>
                  </a:ext>
                </a:extLst>
              </a:tr>
              <a:tr h="94849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Low Budget ($0-$40K)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Volume Focus: Use group discounts and early bird pricing. Target with low-priced events like Festivals and Community Events.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$20 - $60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45884321"/>
                  </a:ext>
                </a:extLst>
              </a:tr>
              <a:tr h="94849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Medium Budget (~$40K-$60K)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Loyalty Focus: Use tiered pricing and package deals. Target with Concerts, Sports Events, and Exhibitions.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$50 - $120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29339627"/>
                  </a:ext>
                </a:extLst>
              </a:tr>
              <a:tr h="94849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High Budget ($60K+)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Premium Focus: Offer exclusive experiences, VIP packages, and networking opportunities. Target with Premium Seminars and VIP Concerts.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$100 - $300+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542910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511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75F07-A00F-F69E-7EE6-B61A2B209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528BCA-C96A-E5D1-16BB-5544FEF31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8947" y="786921"/>
            <a:ext cx="9236598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Next Steps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C589F370-C1AB-58C9-81FD-E1494BA58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2" y="169650"/>
            <a:ext cx="2613025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690CA6-F9EB-89FF-0226-D71FB55554AF}"/>
              </a:ext>
            </a:extLst>
          </p:cNvPr>
          <p:cNvSpPr txBox="1"/>
          <p:nvPr/>
        </p:nvSpPr>
        <p:spPr>
          <a:xfrm>
            <a:off x="894145" y="2551837"/>
            <a:ext cx="401352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dirty="0"/>
              <a:t>Reiterate the main conclusion: </a:t>
            </a:r>
            <a:r>
              <a:rPr lang="en-US" sz="2000" b="1" dirty="0"/>
              <a:t>Financial Affordability is the single most important factor</a:t>
            </a:r>
            <a:r>
              <a:rPr lang="en-US" sz="2000" dirty="0"/>
              <a:t>. The data provides a strong foundation for dynamic pricing and segment-focused marketing.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212BA6-2C34-FC5B-C9EF-3BB4B2DEA7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43" t="19099" r="50232" b="34744"/>
          <a:stretch>
            <a:fillRect/>
          </a:stretch>
        </p:blipFill>
        <p:spPr bwMode="auto">
          <a:xfrm>
            <a:off x="5125735" y="1942801"/>
            <a:ext cx="6172120" cy="351927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59470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546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mahakalitarun@gmail.com</dc:creator>
  <cp:lastModifiedBy>mahakalitarun@gmail.com</cp:lastModifiedBy>
  <cp:revision>1</cp:revision>
  <dcterms:created xsi:type="dcterms:W3CDTF">2025-12-01T13:01:58Z</dcterms:created>
  <dcterms:modified xsi:type="dcterms:W3CDTF">2025-12-01T13:34:43Z</dcterms:modified>
</cp:coreProperties>
</file>